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-564" y="-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206240"/>
            <a:ext cx="4206240" cy="420624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1148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pic>
        <p:nvPicPr>
          <p:cNvPr id="5" name="Image 0" descr="/home/claude/work/images/iilm_logo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8640"/>
            <a:ext cx="256032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0" y="6583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1572768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REPORT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938528"/>
            <a:ext cx="10241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Service and Social Development</a:t>
            </a:r>
            <a:endParaRPr lang="en-US" sz="3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Neev Shakti Sanstha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3310128"/>
            <a:ext cx="6035040" cy="182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356616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Keshav Agarwal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005072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Number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25SCS1003001000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443984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&amp; Semester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 – AI &amp; ML with IBM, 2nd Year, 3rd Semester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882896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Neev Shakti Sanstha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3566160"/>
            <a:ext cx="3063240" cy="2103120"/>
          </a:xfrm>
          <a:prstGeom prst="roundRect">
            <a:avLst>
              <a:gd name="adj" fmla="val 5217"/>
            </a:avLst>
          </a:prstGeom>
          <a:solidFill>
            <a:srgbClr val="028090">
              <a:alpha val="75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58200" y="3730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Jul – 13 Aug 2026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458200" y="4480560"/>
            <a:ext cx="2606040" cy="9144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45820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HOURS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4892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Hours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Role: Community Service Intern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Neev Shakti Sanstha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Introduction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non-governmental organisation (NGO) dedicated to empowering persons with disabilities by promoting inclusion, equal opportunities, and independent living — improving quality of life through education, skill development, awareness, and access to welfare schemes.</a:t>
            </a:r>
            <a:endParaRPr lang="en-US" sz="1350" dirty="0"/>
          </a:p>
        </p:txBody>
      </p:sp>
      <p:pic>
        <p:nvPicPr>
          <p:cNvPr id="5" name="Image 0" descr="/home/claude/work/images/p4_0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35240" y="411480"/>
            <a:ext cx="3977640" cy="27980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635240" y="32278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outreach stall organised with the district administration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97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Areas of Work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" y="33284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96" dirty="0"/>
          </a:p>
        </p:txBody>
      </p:sp>
      <p:sp>
        <p:nvSpPr>
          <p:cNvPr id="11" name="Text 8"/>
          <p:cNvSpPr txBox="1"/>
          <p:nvPr/>
        </p:nvSpPr>
        <p:spPr>
          <a:xfrm>
            <a:off x="1207008" y="3209544"/>
            <a:ext cx="2514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&amp; skill development for persons with disabilities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069080" y="31546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06240" y="33284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1"/>
          <p:cNvSpPr/>
          <p:nvPr/>
        </p:nvSpPr>
        <p:spPr>
          <a:xfrm>
            <a:off x="420624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96" dirty="0"/>
          </a:p>
        </p:txBody>
      </p:sp>
      <p:sp>
        <p:nvSpPr>
          <p:cNvPr id="15" name="Text 12"/>
          <p:cNvSpPr txBox="1"/>
          <p:nvPr/>
        </p:nvSpPr>
        <p:spPr>
          <a:xfrm>
            <a:off x="4727448" y="3209544"/>
            <a:ext cx="2514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Disability-rights awareness &amp; social inclusion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0690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42428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4242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96" dirty="0"/>
          </a:p>
        </p:txBody>
      </p:sp>
      <p:sp>
        <p:nvSpPr>
          <p:cNvPr id="19" name="Text 16"/>
          <p:cNvSpPr txBox="1"/>
          <p:nvPr/>
        </p:nvSpPr>
        <p:spPr>
          <a:xfrm>
            <a:off x="1207008" y="4123944"/>
            <a:ext cx="2514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with UDID / Aadhaar cards, certificates &amp; pensions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069080" y="40690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06240" y="42428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19"/>
          <p:cNvSpPr/>
          <p:nvPr/>
        </p:nvSpPr>
        <p:spPr>
          <a:xfrm>
            <a:off x="4206240" y="4242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96" dirty="0"/>
          </a:p>
        </p:txBody>
      </p:sp>
      <p:sp>
        <p:nvSpPr>
          <p:cNvPr id="23" name="Text 20"/>
          <p:cNvSpPr txBox="1"/>
          <p:nvPr/>
        </p:nvSpPr>
        <p:spPr>
          <a:xfrm>
            <a:off x="4727448" y="4123944"/>
            <a:ext cx="2514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Educational, recreational &amp; community engagement activities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9834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3"/>
          <p:cNvSpPr/>
          <p:nvPr/>
        </p:nvSpPr>
        <p:spPr>
          <a:xfrm>
            <a:off x="685800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96" dirty="0"/>
          </a:p>
        </p:txBody>
      </p:sp>
      <p:sp>
        <p:nvSpPr>
          <p:cNvPr id="27" name="Text 24"/>
          <p:cNvSpPr txBox="1"/>
          <p:nvPr/>
        </p:nvSpPr>
        <p:spPr>
          <a:xfrm>
            <a:off x="1207008" y="5038344"/>
            <a:ext cx="2514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campaigns, cleanliness drives &amp; environmental initiatives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069080" y="49834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6240" y="51572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0" name="Text 27"/>
          <p:cNvSpPr/>
          <p:nvPr/>
        </p:nvSpPr>
        <p:spPr>
          <a:xfrm>
            <a:off x="4206240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96" dirty="0"/>
          </a:p>
        </p:txBody>
      </p:sp>
      <p:sp>
        <p:nvSpPr>
          <p:cNvPr id="31" name="Text 28"/>
          <p:cNvSpPr txBox="1"/>
          <p:nvPr/>
        </p:nvSpPr>
        <p:spPr>
          <a:xfrm>
            <a:off x="4727448" y="5038344"/>
            <a:ext cx="2514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surveys &amp; data analysis for welfare planning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Beneficiaries: persons with disabilities and the wider community they belong to.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Objectives &amp; Role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classroom learning with real-world social work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94960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37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8680" y="2404872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225856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mission &amp; working model of the NGO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3063240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29169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practical knowledge of disability inclusion &amp; community welfare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3721608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357530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 with beneficiaries and understand their needs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4379976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97280" y="423367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awareness campaigns &amp; outreach activities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68680" y="5038344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89204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survey data organisation, analysis &amp; reporting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68680" y="5696712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97280" y="555040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communication, teamwork &amp; leadership skills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1417320"/>
            <a:ext cx="5394960" cy="4892040"/>
          </a:xfrm>
          <a:prstGeom prst="roundRect">
            <a:avLst>
              <a:gd name="adj" fmla="val 1869"/>
            </a:avLst>
          </a:prstGeom>
          <a:solidFill>
            <a:srgbClr val="013A40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1737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Role: Community Service Intern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537960" y="240487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66560" y="225856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 staff during orientation, awareness sessions &amp; outreach programs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37960" y="306324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66560" y="29169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Interacted with beneficiaries; supported educational &amp; recreational sessions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537960" y="372160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0" y="357530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Participated in awareness campaigns, poster-making &amp; Best Out of Waste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37960" y="437997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766560" y="423367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part in the community cleanliness drive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37960" y="50383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766560" y="489204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Accompanied the NGO team on a beneficiary field visit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537960" y="569671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66560" y="555040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 in organising &amp; reviewing household survey data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417320" cy="1417320"/>
          </a:xfrm>
          <a:prstGeom prst="roundRect">
            <a:avLst>
              <a:gd name="adj" fmla="val 9032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2148840" y="36576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 and NGO Immersion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– 26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4864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214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Activities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596896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245973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Attended orientation covering the NGO's history &amp; services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" y="3026664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5840" y="28895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staff coordinating education, counselling &amp; welfare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3456432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331927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Interacted directly with beneficiaries during learning sessions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" y="3886200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Encouraged participation in simple exercises and games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028090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709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 &amp; Learning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4748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beneficiary was treated with patience, respect &amp; dignity — staff focused on building confidence and independence, not just assistance. This built a far deeper understanding of disability inclusion than theory alone.</a:t>
            </a:r>
            <a:endParaRPr lang="en-US" sz="1100" dirty="0"/>
          </a:p>
        </p:txBody>
      </p:sp>
      <p:pic>
        <p:nvPicPr>
          <p:cNvPr id="20" name="Image 0" descr="/home/claude/work/images/p6_0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1965960"/>
            <a:ext cx="2606040" cy="1965960"/>
          </a:xfrm>
          <a:prstGeom prst="rect">
            <a:avLst/>
          </a:prstGeom>
        </p:spPr>
      </p:pic>
      <p:pic>
        <p:nvPicPr>
          <p:cNvPr id="21" name="Image 1" descr="/home/claude/work/images/p6_1.jpe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52560" y="1965960"/>
            <a:ext cx="2606040" cy="196596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55080" y="4114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Developed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355080" y="4526280"/>
            <a:ext cx="1302106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55080" y="4526280"/>
            <a:ext cx="130210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7794346" y="4526280"/>
            <a:ext cx="1141171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94346" y="4526280"/>
            <a:ext cx="11411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9072677" y="4526280"/>
            <a:ext cx="899770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072677" y="4526280"/>
            <a:ext cx="8997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10109606" y="4526280"/>
            <a:ext cx="819302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109606" y="4526280"/>
            <a:ext cx="8193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417320" cy="1417320"/>
          </a:xfrm>
          <a:prstGeom prst="roundRect">
            <a:avLst>
              <a:gd name="adj" fmla="val 9032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2148840" y="36576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Awareness, Creative Activities &amp; Environmental Sustainability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July – 1 August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4864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214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Activities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596896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245973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part in disability-inclusion &amp; environmental awareness sessions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" y="3026664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5840" y="28895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Contributed to the 'Best Out of Waste' recycling activity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3456432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331927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 design awareness posters (inclusion, cleanliness, environment)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" y="3886200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a creative Earth Day awareness session with beneficiaries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028090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709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 &amp; Learning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4748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activities proved highly effective at conveying social messages, with beneficiaries showing great enthusiasm. Strengthened understanding of how environmental sustainability and disability inclusion reinforce each other.</a:t>
            </a:r>
            <a:endParaRPr lang="en-US" sz="1100" dirty="0"/>
          </a:p>
        </p:txBody>
      </p:sp>
      <p:pic>
        <p:nvPicPr>
          <p:cNvPr id="20" name="Image 0" descr="/home/claude/work/images/p7_0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1965960"/>
            <a:ext cx="2606040" cy="1965960"/>
          </a:xfrm>
          <a:prstGeom prst="rect">
            <a:avLst/>
          </a:prstGeom>
        </p:spPr>
      </p:pic>
      <p:pic>
        <p:nvPicPr>
          <p:cNvPr id="21" name="Image 1" descr="/home/claude/work/images/p7_1.jpe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52560" y="1965960"/>
            <a:ext cx="2606040" cy="196596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55080" y="4114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Developed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355080" y="4526280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55080" y="452628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Creativity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7552944" y="4526280"/>
            <a:ext cx="1221638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552944" y="4526280"/>
            <a:ext cx="12216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911742" y="4526280"/>
            <a:ext cx="1382573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8911742" y="4526280"/>
            <a:ext cx="1382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Env. Awareness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10431475" y="4526280"/>
            <a:ext cx="899770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431475" y="4526280"/>
            <a:ext cx="8997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417320" cy="1417320"/>
          </a:xfrm>
          <a:prstGeom prst="roundRect">
            <a:avLst>
              <a:gd name="adj" fmla="val 9032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2148840" y="36576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Cleanliness Drive and Community Engagement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– 7 August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4864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214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Activities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596896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245973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part in a cleanliness drive promoting hygiene &amp; participation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" y="3026664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5840" y="28895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litter alongside fellow volunteers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3456432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331927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a community outreach event with the local administration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" y="3886200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Interacted with beneficiaries &amp; community members at the event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028090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709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 &amp; Learning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4748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environment is a shared responsibility — small collective efforts by volunteers make a real difference. Continued beneficiary interaction deepened understanding of accessibility, inclusion, and equal opportunity.</a:t>
            </a:r>
            <a:endParaRPr lang="en-US" sz="1100" dirty="0"/>
          </a:p>
        </p:txBody>
      </p:sp>
      <p:pic>
        <p:nvPicPr>
          <p:cNvPr id="20" name="Image 0" descr="/home/claude/work/images/p9_0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1965960"/>
            <a:ext cx="5303520" cy="196596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355080" y="4114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Developed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355080" y="4526280"/>
            <a:ext cx="1302106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55080" y="4526280"/>
            <a:ext cx="130210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94346" y="4526280"/>
            <a:ext cx="899770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794346" y="4526280"/>
            <a:ext cx="8997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831275" y="4526280"/>
            <a:ext cx="1382573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831275" y="4526280"/>
            <a:ext cx="1382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Env. Awareness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5001768"/>
            <a:ext cx="1945843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55080" y="5001768"/>
            <a:ext cx="19458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Responsibility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417320" cy="1417320"/>
          </a:xfrm>
          <a:prstGeom prst="roundRect">
            <a:avLst>
              <a:gd name="adj" fmla="val 9032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2148840" y="36576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Beneficiary Visit, Survey Data Analysis &amp; Report Preparation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– 13 August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4864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214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Activities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596896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245973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Accompanied the NGO team on a beneficiary field visit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" y="3026664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5840" y="28895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support for livelihood &amp; self-employment opportunities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3456432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331927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 &amp; reviewed household survey data (Aadhaar, UDID, pension, employment)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" y="3886200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responses, checked records &amp; helped prepare a summary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028090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709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 &amp; Learning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4748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Deepened understanding of the link between fieldwork and data analysis — accurate collection and systematic analysis are essential for NGOs to identify needs and plan effective welfare interventions.</a:t>
            </a:r>
            <a:endParaRPr lang="en-US" sz="1100" dirty="0"/>
          </a:p>
        </p:txBody>
      </p:sp>
      <p:pic>
        <p:nvPicPr>
          <p:cNvPr id="20" name="Image 0" descr="/home/claude/work/images/p11_0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1965960"/>
            <a:ext cx="5303520" cy="196596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355080" y="4114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Developed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355080" y="4526280"/>
            <a:ext cx="1623974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55080" y="4526280"/>
            <a:ext cx="16239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Organisation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116214" y="4526280"/>
            <a:ext cx="1302106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16214" y="4526280"/>
            <a:ext cx="130210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55480" y="4526280"/>
            <a:ext cx="1623974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555480" y="4526280"/>
            <a:ext cx="16239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Thinking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5001768"/>
            <a:ext cx="1543507" cy="384048"/>
          </a:xfrm>
          <a:prstGeom prst="roundRect">
            <a:avLst>
              <a:gd name="adj" fmla="val 50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55080" y="5001768"/>
            <a:ext cx="15435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Comm. Engagement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&amp; Learning Outcomes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Acquired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7218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472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371600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084832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85416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85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208483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 &amp; Collaboration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798064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898648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898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2798064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11296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611880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3511296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Problem-Solving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224528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325112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4224528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Management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93776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503834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4937760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5650992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" y="5751576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31" name="Text 29"/>
          <p:cNvSpPr txBox="1"/>
          <p:nvPr/>
        </p:nvSpPr>
        <p:spPr>
          <a:xfrm>
            <a:off x="1170432" y="565099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Thinking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023360" y="137160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33088" y="147218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4133088" y="1472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35" name="Text 33"/>
          <p:cNvSpPr txBox="1"/>
          <p:nvPr/>
        </p:nvSpPr>
        <p:spPr>
          <a:xfrm>
            <a:off x="4645152" y="1371600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Organisation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023360" y="2084832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33088" y="2185416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8" name="Text 36"/>
          <p:cNvSpPr/>
          <p:nvPr/>
        </p:nvSpPr>
        <p:spPr>
          <a:xfrm>
            <a:off x="4133088" y="2185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39" name="Text 37"/>
          <p:cNvSpPr txBox="1"/>
          <p:nvPr/>
        </p:nvSpPr>
        <p:spPr>
          <a:xfrm>
            <a:off x="4645152" y="208483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Writing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023360" y="2798064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33088" y="2898648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2" name="Text 40"/>
          <p:cNvSpPr/>
          <p:nvPr/>
        </p:nvSpPr>
        <p:spPr>
          <a:xfrm>
            <a:off x="4133088" y="2898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43" name="Text 41"/>
          <p:cNvSpPr txBox="1"/>
          <p:nvPr/>
        </p:nvSpPr>
        <p:spPr>
          <a:xfrm>
            <a:off x="4645152" y="2798064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Engagement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023360" y="3511296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133088" y="3611880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6" name="Text 44"/>
          <p:cNvSpPr/>
          <p:nvPr/>
        </p:nvSpPr>
        <p:spPr>
          <a:xfrm>
            <a:off x="413308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47" name="Text 45"/>
          <p:cNvSpPr txBox="1"/>
          <p:nvPr/>
        </p:nvSpPr>
        <p:spPr>
          <a:xfrm>
            <a:off x="4645152" y="3511296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Creativity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023360" y="4224528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133088" y="4325112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0" name="Text 48"/>
          <p:cNvSpPr/>
          <p:nvPr/>
        </p:nvSpPr>
        <p:spPr>
          <a:xfrm>
            <a:off x="4133088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51" name="Text 49"/>
          <p:cNvSpPr txBox="1"/>
          <p:nvPr/>
        </p:nvSpPr>
        <p:spPr>
          <a:xfrm>
            <a:off x="4645152" y="4224528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Awareness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023360" y="493776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33088" y="503834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4" name="Text 52"/>
          <p:cNvSpPr/>
          <p:nvPr/>
        </p:nvSpPr>
        <p:spPr>
          <a:xfrm>
            <a:off x="4133088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55" name="Text 53"/>
          <p:cNvSpPr txBox="1"/>
          <p:nvPr/>
        </p:nvSpPr>
        <p:spPr>
          <a:xfrm>
            <a:off x="4645152" y="4937760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 &amp; Social Responsibility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023360" y="5650992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33088" y="5751576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8" name="Text 56"/>
          <p:cNvSpPr/>
          <p:nvPr/>
        </p:nvSpPr>
        <p:spPr>
          <a:xfrm>
            <a:off x="4133088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6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96" dirty="0"/>
          </a:p>
        </p:txBody>
      </p:sp>
      <p:sp>
        <p:nvSpPr>
          <p:cNvPr id="59" name="Text 57"/>
          <p:cNvSpPr txBox="1"/>
          <p:nvPr/>
        </p:nvSpPr>
        <p:spPr>
          <a:xfrm>
            <a:off x="4645152" y="565099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Adaptability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7498080" y="1371600"/>
            <a:ext cx="4114800" cy="4754880"/>
          </a:xfrm>
          <a:prstGeom prst="roundRect">
            <a:avLst>
              <a:gd name="adj" fmla="val 2667"/>
            </a:avLst>
          </a:prstGeom>
          <a:solidFill>
            <a:srgbClr val="013A4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7266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Learning Outcomes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726680" y="2121408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936992" y="19659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exposure to community service &amp; disability inclusion beyond theory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726680" y="2971800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936992" y="281635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interaction taught patience, empathy &amp; communication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7726680" y="3822192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7936992" y="3666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&amp; environmental activities showed the power of collective effort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7726680" y="4672584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936992" y="451713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work reinforced evidence-based approaches, accuracy &amp; documentation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7726680" y="5522976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936992" y="5367528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Strengthened social responsibility &amp; appreciation of the NGO's role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Personal Development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 →  Learning  →  Improvement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with beneficiaries of differing needs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22452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6002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182880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&amp; careful, sensitive interaction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83640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001000" y="16002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182880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confidence &amp; communication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3464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06324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survey data accurate amid large information volumes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24528" y="30632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83464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06324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attention to detail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836408" y="30632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001000" y="283464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306324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 analytical &amp; documentation skills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06908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29768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community activities (drives, awareness sessions)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224528" y="429768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06908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29768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management &amp; teamwork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836408" y="429768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406908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429768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problem-solving ability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44068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028090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5595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guidance from NGO staff and consistent practice, these challenges were overcome — strengthening confidence, communication, and problem-solving abilities over the course of the internship.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37360" y="4754880"/>
            <a:ext cx="4206240" cy="420624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365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Journey &amp; 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71016" y="114300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71016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563624" y="1289304"/>
            <a:ext cx="126187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40080" y="1527048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825496" y="114300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25496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18104" y="1289304"/>
            <a:ext cx="126187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2194560" y="1527048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Interaction &amp; Awareness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79976" y="114300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79976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72584" y="1289304"/>
            <a:ext cx="126187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749040" y="1527048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&amp; Environmental Activities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34456" y="114300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34456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27064" y="1289304"/>
            <a:ext cx="126187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303520" y="1527048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Cleanliness Drive &amp; Outreach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88936" y="114300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88936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81544" y="1289304"/>
            <a:ext cx="126187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858000" y="1527048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Field Visit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43416" y="114300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43416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36024" y="1289304"/>
            <a:ext cx="126187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8412480" y="1527048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Data &amp; Documentation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597896" y="114300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597896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1527048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&amp; Learning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" y="233172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028090">
              <a:alpha val="2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2487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" y="2907792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at Neev Shakti Sanstha was a valuable, enriching experience that revealed the real-world importance of community service, disability inclusion, and social responsibility — insights that went well beyond classroom learning.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strengthened communication, teamwork, leadership, and analytical thinking, while deepening confidence and empathy towards persons with disabilities — a meaningful step in both personal and professional growth, and an inspiration to keep contributing to community welfare.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kern="0" spc="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1006</Words>
  <Application>Microsoft Office PowerPoint</Application>
  <PresentationFormat>Custom</PresentationFormat>
  <Paragraphs>215</Paragraphs>
  <Slides>10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Keshav</cp:lastModifiedBy>
  <cp:revision>2</cp:revision>
  <dcterms:created xsi:type="dcterms:W3CDTF">2026-09-06T16:04:58Z</dcterms:created>
  <dcterms:modified xsi:type="dcterms:W3CDTF">2026-09-06T16:08:27Z</dcterms:modified>
</cp:coreProperties>
</file>