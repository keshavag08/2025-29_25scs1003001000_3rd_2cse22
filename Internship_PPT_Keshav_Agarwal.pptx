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5087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Service and Social Development</a:t>
            </a:r>
            <a:endParaRPr lang="en-US" sz="3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Neev Shakti Sanstha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3246120"/>
            <a:ext cx="6035040" cy="1828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520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Keshav Agarwal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86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25SCS1003001000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51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– AI &amp; ML with IBM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617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/ Semester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Year, 3rd Semester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983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75320" y="3566160"/>
            <a:ext cx="3063240" cy="2103120"/>
          </a:xfrm>
          <a:prstGeom prst="roundRect">
            <a:avLst>
              <a:gd name="adj" fmla="val 5217"/>
            </a:avLst>
          </a:prstGeom>
          <a:solidFill>
            <a:srgbClr val="028090">
              <a:alpha val="7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58200" y="3730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458200" y="4005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Jul – 13 Aug 2026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458200" y="4480560"/>
            <a:ext cx="2606040" cy="9144"/>
          </a:xfrm>
          <a:prstGeom prst="rect">
            <a:avLst/>
          </a:prstGeom>
          <a:solidFill>
            <a:srgbClr val="00A896">
              <a:alpha val="60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HOURS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4892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Hours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Role: Community Service Intern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Neev Shakti Sanstha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Introduction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non-governmental organisation (NGO) dedicated to empowering persons with disabilities by promoting inclusion, equal opportunities, and independent living — improving quality of life through education, skill development, awareness, and access to welfare schemes.</a:t>
            </a:r>
            <a:endParaRPr lang="en-US" sz="1350" dirty="0"/>
          </a:p>
        </p:txBody>
      </p:sp>
      <p:pic>
        <p:nvPicPr>
          <p:cNvPr id="5" name="Image 0" descr="/home/claude/work/images/p4_0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35240" y="411480"/>
            <a:ext cx="3977640" cy="2798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635240" y="322783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outreach stall organised with the district administration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697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Areas of Work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315468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332841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3328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96" dirty="0"/>
          </a:p>
        </p:txBody>
      </p:sp>
      <p:sp>
        <p:nvSpPr>
          <p:cNvPr id="11" name="Text 8"/>
          <p:cNvSpPr txBox="1"/>
          <p:nvPr/>
        </p:nvSpPr>
        <p:spPr>
          <a:xfrm>
            <a:off x="1207008" y="3209544"/>
            <a:ext cx="2514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&amp; skill development for persons with disabilities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069080" y="315468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06240" y="332841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1"/>
          <p:cNvSpPr/>
          <p:nvPr/>
        </p:nvSpPr>
        <p:spPr>
          <a:xfrm>
            <a:off x="4206240" y="3328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96" dirty="0"/>
          </a:p>
        </p:txBody>
      </p:sp>
      <p:sp>
        <p:nvSpPr>
          <p:cNvPr id="15" name="Text 12"/>
          <p:cNvSpPr txBox="1"/>
          <p:nvPr/>
        </p:nvSpPr>
        <p:spPr>
          <a:xfrm>
            <a:off x="4727448" y="3209544"/>
            <a:ext cx="2514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Disability-rights awareness &amp; social inclusion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406908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424281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" y="4242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96" dirty="0"/>
          </a:p>
        </p:txBody>
      </p:sp>
      <p:sp>
        <p:nvSpPr>
          <p:cNvPr id="19" name="Text 16"/>
          <p:cNvSpPr txBox="1"/>
          <p:nvPr/>
        </p:nvSpPr>
        <p:spPr>
          <a:xfrm>
            <a:off x="1207008" y="4123944"/>
            <a:ext cx="2514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Assistance with UDID / Aadhaar cards, certificates &amp; pensions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069080" y="406908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06240" y="424281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19"/>
          <p:cNvSpPr/>
          <p:nvPr/>
        </p:nvSpPr>
        <p:spPr>
          <a:xfrm>
            <a:off x="4206240" y="4242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96" dirty="0"/>
          </a:p>
        </p:txBody>
      </p:sp>
      <p:sp>
        <p:nvSpPr>
          <p:cNvPr id="23" name="Text 20"/>
          <p:cNvSpPr txBox="1"/>
          <p:nvPr/>
        </p:nvSpPr>
        <p:spPr>
          <a:xfrm>
            <a:off x="4727448" y="4123944"/>
            <a:ext cx="2514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Educational, recreational &amp; community engagement activities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48640" y="498348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85800" y="515721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3"/>
          <p:cNvSpPr/>
          <p:nvPr/>
        </p:nvSpPr>
        <p:spPr>
          <a:xfrm>
            <a:off x="685800" y="515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96" dirty="0"/>
          </a:p>
        </p:txBody>
      </p:sp>
      <p:sp>
        <p:nvSpPr>
          <p:cNvPr id="27" name="Text 24"/>
          <p:cNvSpPr txBox="1"/>
          <p:nvPr/>
        </p:nvSpPr>
        <p:spPr>
          <a:xfrm>
            <a:off x="1207008" y="5038344"/>
            <a:ext cx="2514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campaigns, cleanliness drives &amp; environmental initiatives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069080" y="498348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206240" y="515721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7"/>
          <p:cNvSpPr/>
          <p:nvPr/>
        </p:nvSpPr>
        <p:spPr>
          <a:xfrm>
            <a:off x="4206240" y="515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96" dirty="0"/>
          </a:p>
        </p:txBody>
      </p:sp>
      <p:sp>
        <p:nvSpPr>
          <p:cNvPr id="31" name="Text 28"/>
          <p:cNvSpPr txBox="1"/>
          <p:nvPr/>
        </p:nvSpPr>
        <p:spPr>
          <a:xfrm>
            <a:off x="4727448" y="5038344"/>
            <a:ext cx="2514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surveys &amp; data analysis for welfare planning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Beneficiaries: persons with disabilities and the wider community they belong to.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Objectives &amp; Role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classroom learning with real-world social work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916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37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240487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225856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mission &amp; working model of the NGO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06324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291693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practical knowledge of disability inclusion &amp; community welfare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3721608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357530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 with beneficiaries and understand their needs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4379976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423367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in awareness campaigns &amp; outreach activities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8680" y="503834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97280" y="48920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survey data organisation, analysis &amp; reporting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68680" y="569671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97280" y="555040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communication, teamwork &amp; leadership skills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1417320"/>
            <a:ext cx="5394960" cy="4892040"/>
          </a:xfrm>
          <a:prstGeom prst="roundRect">
            <a:avLst>
              <a:gd name="adj" fmla="val 1869"/>
            </a:avLst>
          </a:prstGeom>
          <a:solidFill>
            <a:srgbClr val="013A40"/>
          </a:solidFill>
          <a:ln/>
        </p:spPr>
      </p:sp>
      <p:sp>
        <p:nvSpPr>
          <p:cNvPr id="21" name="Shape 19"/>
          <p:cNvSpPr/>
          <p:nvPr/>
        </p:nvSpPr>
        <p:spPr>
          <a:xfrm>
            <a:off x="6537960" y="16916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1737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Role: Community Service Intern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537960" y="240487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66560" y="225856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Assisted staff during orientation, awareness sessions &amp; outreach programs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37960" y="306324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66560" y="291693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Interacted with beneficiaries; supported educational &amp; recreational sessions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37960" y="372160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66560" y="357530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Participated in awareness campaigns, poster-making &amp; Best Out of Waste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37960" y="437997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66560" y="423367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Took part in the community cleanliness drive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537960" y="50383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766560" y="48920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Accompanied the NGO team on a beneficiary field visit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537960" y="569671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766560" y="555040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Assisted in organising &amp; reviewing household survey data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17320" cy="1417320"/>
          </a:xfrm>
          <a:prstGeom prst="roundRect">
            <a:avLst>
              <a:gd name="adj" fmla="val 9032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365760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Orientation and NGO Immersion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– 26 July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48640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214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Activities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4672" y="2596896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245973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Attended orientation covering the NGO's history &amp; services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" y="3026664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5840" y="28895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staff coordinating education, counselling &amp; welfare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" y="3456432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331927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Interacted directly with beneficiaries during learning sessions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" y="3886200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37490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Encouraged participation in simple exercises and games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5486400" cy="1600200"/>
          </a:xfrm>
          <a:prstGeom prst="roundRect">
            <a:avLst>
              <a:gd name="adj" fmla="val 5714"/>
            </a:avLst>
          </a:prstGeom>
          <a:solidFill>
            <a:srgbClr val="028090">
              <a:alpha val="12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709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 &amp; Learning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047488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beneficiary was treated with patience, respect &amp; dignity — staff focused on building confidence and independence, not just assistance. This built a far deeper understanding of disability inclusion than theory alone.</a:t>
            </a:r>
            <a:endParaRPr lang="en-US" sz="1100" dirty="0"/>
          </a:p>
        </p:txBody>
      </p:sp>
      <p:pic>
        <p:nvPicPr>
          <p:cNvPr id="20" name="Image 0" descr="/home/claude/work/images/p6_0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5080" y="1965960"/>
            <a:ext cx="2606040" cy="1965960"/>
          </a:xfrm>
          <a:prstGeom prst="rect">
            <a:avLst/>
          </a:prstGeom>
        </p:spPr>
      </p:pic>
      <p:pic>
        <p:nvPicPr>
          <p:cNvPr id="21" name="Image 1" descr="/home/claude/work/images/p6_1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052560" y="1965960"/>
            <a:ext cx="2606040" cy="196596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355080" y="41148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Developed</a:t>
            </a:r>
            <a:endParaRPr lang="en-US" sz="1450" dirty="0"/>
          </a:p>
        </p:txBody>
      </p:sp>
      <p:sp>
        <p:nvSpPr>
          <p:cNvPr id="23" name="Shape 19"/>
          <p:cNvSpPr/>
          <p:nvPr/>
        </p:nvSpPr>
        <p:spPr>
          <a:xfrm>
            <a:off x="6355080" y="4526280"/>
            <a:ext cx="1302106" cy="384048"/>
          </a:xfrm>
          <a:prstGeom prst="roundRect">
            <a:avLst>
              <a:gd name="adj" fmla="val 50000"/>
            </a:avLst>
          </a:prstGeom>
          <a:solidFill>
            <a:srgbClr val="00A896">
              <a:alpha val="85000"/>
            </a:srgbClr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6355080" y="4526280"/>
            <a:ext cx="13021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794346" y="4526280"/>
            <a:ext cx="1141171" cy="384048"/>
          </a:xfrm>
          <a:prstGeom prst="roundRect">
            <a:avLst>
              <a:gd name="adj" fmla="val 50000"/>
            </a:avLst>
          </a:prstGeom>
          <a:solidFill>
            <a:srgbClr val="00A896">
              <a:alpha val="85000"/>
            </a:srgbClr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794346" y="4526280"/>
            <a:ext cx="11411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9072677" y="4526280"/>
            <a:ext cx="899770" cy="384048"/>
          </a:xfrm>
          <a:prstGeom prst="roundRect">
            <a:avLst>
              <a:gd name="adj" fmla="val 50000"/>
            </a:avLst>
          </a:prstGeom>
          <a:solidFill>
            <a:srgbClr val="00A896">
              <a:alpha val="85000"/>
            </a:srgbClr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9072677" y="4526280"/>
            <a:ext cx="8997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10109606" y="4526280"/>
            <a:ext cx="819302" cy="384048"/>
          </a:xfrm>
          <a:prstGeom prst="roundRect">
            <a:avLst>
              <a:gd name="adj" fmla="val 50000"/>
            </a:avLst>
          </a:prstGeom>
          <a:solidFill>
            <a:srgbClr val="00A896">
              <a:alpha val="85000"/>
            </a:srgbClr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10109606" y="4526280"/>
            <a:ext cx="8193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17320" cy="1417320"/>
          </a:xfrm>
          <a:prstGeom prst="roundRect">
            <a:avLst>
              <a:gd name="adj" fmla="val 9032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365760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Awareness, Creative Activities &amp; Environmental Sustainability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July – 1 August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48640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214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Activities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4672" y="2596896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245973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Took part in disability-inclusion &amp; environmental awareness sessions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" y="3026664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5840" y="28895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Contributed to the 'Best Out of Waste' recycling activity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" y="3456432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331927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Helped design awareness posters (inclusion, cleanliness, environment)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" y="3886200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37490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a creative Earth Day awareness session with beneficiaries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5486400" cy="1600200"/>
          </a:xfrm>
          <a:prstGeom prst="roundRect">
            <a:avLst>
              <a:gd name="adj" fmla="val 5714"/>
            </a:avLst>
          </a:prstGeom>
          <a:solidFill>
            <a:srgbClr val="028090">
              <a:alpha val="12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709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 &amp; Learning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047488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activities proved highly effective at conveying social messages, with beneficiaries showing great enthusiasm. Strengthened understanding of how environmental sustainability and disability inclusion reinforce each other.</a:t>
            </a:r>
            <a:endParaRPr lang="en-US" sz="1100" dirty="0"/>
          </a:p>
        </p:txBody>
      </p:sp>
      <p:pic>
        <p:nvPicPr>
          <p:cNvPr id="20" name="Image 0" descr="/home/claude/work/images/p7_0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5080" y="1965960"/>
            <a:ext cx="2606040" cy="1965960"/>
          </a:xfrm>
          <a:prstGeom prst="rect">
            <a:avLst/>
          </a:prstGeom>
        </p:spPr>
      </p:pic>
      <p:pic>
        <p:nvPicPr>
          <p:cNvPr id="21" name="Image 1" descr="/home/claude/work/images/p7_1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052560" y="1965960"/>
            <a:ext cx="2606040" cy="196596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355080" y="41148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Developed</a:t>
            </a:r>
            <a:endParaRPr lang="en-US" sz="1450" dirty="0"/>
          </a:p>
        </p:txBody>
      </p:sp>
      <p:sp>
        <p:nvSpPr>
          <p:cNvPr id="23" name="Shape 19"/>
          <p:cNvSpPr/>
          <p:nvPr/>
        </p:nvSpPr>
        <p:spPr>
          <a:xfrm>
            <a:off x="6355080" y="4526280"/>
            <a:ext cx="1060704" cy="384048"/>
          </a:xfrm>
          <a:prstGeom prst="roundRect">
            <a:avLst>
              <a:gd name="adj" fmla="val 50000"/>
            </a:avLst>
          </a:prstGeom>
          <a:solidFill>
            <a:srgbClr val="00A896">
              <a:alpha val="85000"/>
            </a:srgbClr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6355080" y="4526280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552944" y="4526280"/>
            <a:ext cx="1221638" cy="384048"/>
          </a:xfrm>
          <a:prstGeom prst="roundRect">
            <a:avLst>
              <a:gd name="adj" fmla="val 50000"/>
            </a:avLst>
          </a:prstGeom>
          <a:solidFill>
            <a:srgbClr val="00A896">
              <a:alpha val="85000"/>
            </a:srgbClr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552944" y="4526280"/>
            <a:ext cx="12216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8911742" y="4526280"/>
            <a:ext cx="1382573" cy="384048"/>
          </a:xfrm>
          <a:prstGeom prst="roundRect">
            <a:avLst>
              <a:gd name="adj" fmla="val 50000"/>
            </a:avLst>
          </a:prstGeom>
          <a:solidFill>
            <a:srgbClr val="00A896">
              <a:alpha val="85000"/>
            </a:srgbClr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8911742" y="4526280"/>
            <a:ext cx="13825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Env. Awareness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10431475" y="4526280"/>
            <a:ext cx="899770" cy="384048"/>
          </a:xfrm>
          <a:prstGeom prst="roundRect">
            <a:avLst>
              <a:gd name="adj" fmla="val 50000"/>
            </a:avLst>
          </a:prstGeom>
          <a:solidFill>
            <a:srgbClr val="00A896">
              <a:alpha val="85000"/>
            </a:srgbClr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10431475" y="4526280"/>
            <a:ext cx="8997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17320" cy="1417320"/>
          </a:xfrm>
          <a:prstGeom prst="roundRect">
            <a:avLst>
              <a:gd name="adj" fmla="val 9032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365760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Cleanliness Drive and Community Engagement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7 August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48640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214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Activities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4672" y="2596896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245973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Took part in a cleanliness drive promoting hygiene &amp; participation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" y="3026664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5840" y="28895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litter alongside fellow volunteers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" y="3456432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331927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a community outreach event with the local administration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" y="3886200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37490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Interacted with beneficiaries &amp; community members at the event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5486400" cy="1600200"/>
          </a:xfrm>
          <a:prstGeom prst="roundRect">
            <a:avLst>
              <a:gd name="adj" fmla="val 5714"/>
            </a:avLst>
          </a:prstGeom>
          <a:solidFill>
            <a:srgbClr val="028090">
              <a:alpha val="12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709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 &amp; Learning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047488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environment is a shared responsibility — small collective efforts by volunteers make a real difference. Continued beneficiary interaction deepened understanding of accessibility, inclusion, and equal opportunity.</a:t>
            </a:r>
            <a:endParaRPr lang="en-US" sz="1100" dirty="0"/>
          </a:p>
        </p:txBody>
      </p:sp>
      <p:pic>
        <p:nvPicPr>
          <p:cNvPr id="20" name="Image 0" descr="/home/claude/work/images/p9_0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5080" y="1965960"/>
            <a:ext cx="5303520" cy="196596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6355080" y="41148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Developed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355080" y="4526280"/>
            <a:ext cx="1302106" cy="384048"/>
          </a:xfrm>
          <a:prstGeom prst="roundRect">
            <a:avLst>
              <a:gd name="adj" fmla="val 50000"/>
            </a:avLst>
          </a:prstGeom>
          <a:solidFill>
            <a:srgbClr val="00A896">
              <a:alpha val="85000"/>
            </a:srgbClr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355080" y="4526280"/>
            <a:ext cx="13021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794346" y="4526280"/>
            <a:ext cx="899770" cy="384048"/>
          </a:xfrm>
          <a:prstGeom prst="roundRect">
            <a:avLst>
              <a:gd name="adj" fmla="val 50000"/>
            </a:avLst>
          </a:prstGeom>
          <a:solidFill>
            <a:srgbClr val="00A896">
              <a:alpha val="85000"/>
            </a:srgbClr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794346" y="4526280"/>
            <a:ext cx="8997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831275" y="4526280"/>
            <a:ext cx="1382573" cy="384048"/>
          </a:xfrm>
          <a:prstGeom prst="roundRect">
            <a:avLst>
              <a:gd name="adj" fmla="val 50000"/>
            </a:avLst>
          </a:prstGeom>
          <a:solidFill>
            <a:srgbClr val="00A896">
              <a:alpha val="85000"/>
            </a:srgbClr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831275" y="4526280"/>
            <a:ext cx="13825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Env. Awareness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355080" y="5001768"/>
            <a:ext cx="1945843" cy="384048"/>
          </a:xfrm>
          <a:prstGeom prst="roundRect">
            <a:avLst>
              <a:gd name="adj" fmla="val 50000"/>
            </a:avLst>
          </a:prstGeom>
          <a:solidFill>
            <a:srgbClr val="00A896">
              <a:alpha val="85000"/>
            </a:srgbClr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355080" y="5001768"/>
            <a:ext cx="19458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Responsibility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17320" cy="1417320"/>
          </a:xfrm>
          <a:prstGeom prst="roundRect">
            <a:avLst>
              <a:gd name="adj" fmla="val 9032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365760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Beneficiary Visit, Survey Data Analysis &amp; Report Preparation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– 13 August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48640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214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Activities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4672" y="2596896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245973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Accompanied the NGO team on a beneficiary field visit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" y="3026664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5840" y="28895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support for livelihood &amp; self-employment opportunities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" y="3456432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331927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&amp; reviewed household survey data (Aadhaar, UDID, pension, employment)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" y="3886200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37490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responses, checked records &amp; helped prepare a summary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5486400" cy="1600200"/>
          </a:xfrm>
          <a:prstGeom prst="roundRect">
            <a:avLst>
              <a:gd name="adj" fmla="val 5714"/>
            </a:avLst>
          </a:prstGeom>
          <a:solidFill>
            <a:srgbClr val="028090">
              <a:alpha val="12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709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 &amp; Learning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047488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Deepened understanding of the link between fieldwork and data analysis — accurate collection and systematic analysis are essential for NGOs to identify needs and plan effective welfare interventions.</a:t>
            </a:r>
            <a:endParaRPr lang="en-US" sz="1100" dirty="0"/>
          </a:p>
        </p:txBody>
      </p:sp>
      <p:pic>
        <p:nvPicPr>
          <p:cNvPr id="20" name="Image 0" descr="/home/claude/work/images/p11_0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5080" y="1965960"/>
            <a:ext cx="5303520" cy="196596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6355080" y="41148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Developed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355080" y="4526280"/>
            <a:ext cx="1623974" cy="384048"/>
          </a:xfrm>
          <a:prstGeom prst="roundRect">
            <a:avLst>
              <a:gd name="adj" fmla="val 50000"/>
            </a:avLst>
          </a:prstGeom>
          <a:solidFill>
            <a:srgbClr val="00A896">
              <a:alpha val="85000"/>
            </a:srgbClr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355080" y="4526280"/>
            <a:ext cx="16239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Organisation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116214" y="4526280"/>
            <a:ext cx="1302106" cy="384048"/>
          </a:xfrm>
          <a:prstGeom prst="roundRect">
            <a:avLst>
              <a:gd name="adj" fmla="val 50000"/>
            </a:avLst>
          </a:prstGeom>
          <a:solidFill>
            <a:srgbClr val="00A896">
              <a:alpha val="85000"/>
            </a:srgbClr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116214" y="4526280"/>
            <a:ext cx="13021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9555480" y="4526280"/>
            <a:ext cx="1623974" cy="384048"/>
          </a:xfrm>
          <a:prstGeom prst="roundRect">
            <a:avLst>
              <a:gd name="adj" fmla="val 50000"/>
            </a:avLst>
          </a:prstGeom>
          <a:solidFill>
            <a:srgbClr val="00A896">
              <a:alpha val="85000"/>
            </a:srgbClr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9555480" y="4526280"/>
            <a:ext cx="16239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Thinking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355080" y="5001768"/>
            <a:ext cx="1543507" cy="384048"/>
          </a:xfrm>
          <a:prstGeom prst="roundRect">
            <a:avLst>
              <a:gd name="adj" fmla="val 50000"/>
            </a:avLst>
          </a:prstGeom>
          <a:solidFill>
            <a:srgbClr val="00A896">
              <a:alpha val="85000"/>
            </a:srgbClr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355080" y="5001768"/>
            <a:ext cx="15435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Comm. Engagement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Learning Outcomes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Acquired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3375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72184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472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196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137160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33375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185416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185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196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2084832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 &amp; Collaboration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798064"/>
            <a:ext cx="33375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2898648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898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196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2798064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11296"/>
            <a:ext cx="33375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611880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3611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196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3511296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224528"/>
            <a:ext cx="33375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4325112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4325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196" dirty="0"/>
          </a:p>
        </p:txBody>
      </p:sp>
      <p:sp>
        <p:nvSpPr>
          <p:cNvPr id="23" name="Text 21"/>
          <p:cNvSpPr txBox="1"/>
          <p:nvPr/>
        </p:nvSpPr>
        <p:spPr>
          <a:xfrm>
            <a:off x="1170432" y="4224528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937760"/>
            <a:ext cx="33375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5038344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5038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196" dirty="0"/>
          </a:p>
        </p:txBody>
      </p:sp>
      <p:sp>
        <p:nvSpPr>
          <p:cNvPr id="27" name="Text 25"/>
          <p:cNvSpPr txBox="1"/>
          <p:nvPr/>
        </p:nvSpPr>
        <p:spPr>
          <a:xfrm>
            <a:off x="1170432" y="493776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650992"/>
            <a:ext cx="33375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" y="5751576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5751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196" dirty="0"/>
          </a:p>
        </p:txBody>
      </p:sp>
      <p:sp>
        <p:nvSpPr>
          <p:cNvPr id="31" name="Text 29"/>
          <p:cNvSpPr txBox="1"/>
          <p:nvPr/>
        </p:nvSpPr>
        <p:spPr>
          <a:xfrm>
            <a:off x="1170432" y="5650992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Thinking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023360" y="1371600"/>
            <a:ext cx="33375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33088" y="1472184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4133088" y="1472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196" dirty="0"/>
          </a:p>
        </p:txBody>
      </p:sp>
      <p:sp>
        <p:nvSpPr>
          <p:cNvPr id="35" name="Text 33"/>
          <p:cNvSpPr txBox="1"/>
          <p:nvPr/>
        </p:nvSpPr>
        <p:spPr>
          <a:xfrm>
            <a:off x="4645152" y="137160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Organisation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023360" y="2084832"/>
            <a:ext cx="33375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33088" y="2185416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8" name="Text 36"/>
          <p:cNvSpPr/>
          <p:nvPr/>
        </p:nvSpPr>
        <p:spPr>
          <a:xfrm>
            <a:off x="4133088" y="2185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196" dirty="0"/>
          </a:p>
        </p:txBody>
      </p:sp>
      <p:sp>
        <p:nvSpPr>
          <p:cNvPr id="39" name="Text 37"/>
          <p:cNvSpPr txBox="1"/>
          <p:nvPr/>
        </p:nvSpPr>
        <p:spPr>
          <a:xfrm>
            <a:off x="4645152" y="2084832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Writing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023360" y="2798064"/>
            <a:ext cx="33375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33088" y="2898648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2" name="Text 40"/>
          <p:cNvSpPr/>
          <p:nvPr/>
        </p:nvSpPr>
        <p:spPr>
          <a:xfrm>
            <a:off x="4133088" y="2898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196" dirty="0"/>
          </a:p>
        </p:txBody>
      </p:sp>
      <p:sp>
        <p:nvSpPr>
          <p:cNvPr id="43" name="Text 41"/>
          <p:cNvSpPr txBox="1"/>
          <p:nvPr/>
        </p:nvSpPr>
        <p:spPr>
          <a:xfrm>
            <a:off x="4645152" y="2798064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Engagement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023360" y="3511296"/>
            <a:ext cx="33375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33088" y="3611880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6" name="Text 44"/>
          <p:cNvSpPr/>
          <p:nvPr/>
        </p:nvSpPr>
        <p:spPr>
          <a:xfrm>
            <a:off x="4133088" y="3611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196" dirty="0"/>
          </a:p>
        </p:txBody>
      </p:sp>
      <p:sp>
        <p:nvSpPr>
          <p:cNvPr id="47" name="Text 45"/>
          <p:cNvSpPr txBox="1"/>
          <p:nvPr/>
        </p:nvSpPr>
        <p:spPr>
          <a:xfrm>
            <a:off x="4645152" y="3511296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023360" y="4224528"/>
            <a:ext cx="33375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133088" y="4325112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0" name="Text 48"/>
          <p:cNvSpPr/>
          <p:nvPr/>
        </p:nvSpPr>
        <p:spPr>
          <a:xfrm>
            <a:off x="4133088" y="4325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196" dirty="0"/>
          </a:p>
        </p:txBody>
      </p:sp>
      <p:sp>
        <p:nvSpPr>
          <p:cNvPr id="51" name="Text 49"/>
          <p:cNvSpPr txBox="1"/>
          <p:nvPr/>
        </p:nvSpPr>
        <p:spPr>
          <a:xfrm>
            <a:off x="4645152" y="4224528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Awareness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4023360" y="4937760"/>
            <a:ext cx="33375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33088" y="5038344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4" name="Text 52"/>
          <p:cNvSpPr/>
          <p:nvPr/>
        </p:nvSpPr>
        <p:spPr>
          <a:xfrm>
            <a:off x="4133088" y="5038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196" dirty="0"/>
          </a:p>
        </p:txBody>
      </p:sp>
      <p:sp>
        <p:nvSpPr>
          <p:cNvPr id="55" name="Text 53"/>
          <p:cNvSpPr txBox="1"/>
          <p:nvPr/>
        </p:nvSpPr>
        <p:spPr>
          <a:xfrm>
            <a:off x="4645152" y="493776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&amp; Social Responsibility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4023360" y="5650992"/>
            <a:ext cx="33375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33088" y="5751576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8" name="Text 56"/>
          <p:cNvSpPr/>
          <p:nvPr/>
        </p:nvSpPr>
        <p:spPr>
          <a:xfrm>
            <a:off x="4133088" y="5751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196" dirty="0"/>
          </a:p>
        </p:txBody>
      </p:sp>
      <p:sp>
        <p:nvSpPr>
          <p:cNvPr id="59" name="Text 57"/>
          <p:cNvSpPr txBox="1"/>
          <p:nvPr/>
        </p:nvSpPr>
        <p:spPr>
          <a:xfrm>
            <a:off x="4645152" y="5650992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Adaptability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7498080" y="1371600"/>
            <a:ext cx="4114800" cy="4754880"/>
          </a:xfrm>
          <a:prstGeom prst="roundRect">
            <a:avLst>
              <a:gd name="adj" fmla="val 2667"/>
            </a:avLst>
          </a:prstGeom>
          <a:solidFill>
            <a:srgbClr val="013A40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772668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 Outcomes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726680" y="2121408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7936992" y="19659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exposure to community service &amp; disability inclusion beyond theory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7726680" y="2971800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7936992" y="2816352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Beneficiary interaction taught patience, empathy &amp; communication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7726680" y="3822192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7936992" y="3666744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&amp; environmental activities showed the power of collective effort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7726680" y="4672584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7936992" y="4517136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work reinforced evidence-based approaches, accuracy &amp; documentation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7726680" y="5522976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7936992" y="536752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Strengthened social responsibility &amp; appreciation of the NGO's role</a:t>
            </a:r>
            <a:endParaRPr lang="en-US" sz="1150" dirty="0"/>
          </a:p>
        </p:txBody>
      </p:sp>
      <p:sp>
        <p:nvSpPr>
          <p:cNvPr id="72" name="Text 70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Personal Development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 →  Learning  →  Improvement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2880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Communicating with beneficiaries of differing needs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224528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16002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182880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&amp; careful, sensitive interaction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836408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001000" y="16002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001000" y="182880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confidence &amp; communication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283464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06324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survey data accurate amid large information volumes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224528" y="30632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283464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306324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attention to detail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836408" y="30632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001000" y="283464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306324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Sharper analytical &amp; documentation skills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06908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429768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community activities (drives, awareness sessions)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224528" y="429768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389120" y="406908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4389120" y="429768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 &amp; teamwork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836408" y="429768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001000" y="406908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8001000" y="429768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problem-solving ability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44068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028090">
              <a:alpha val="12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555955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guidance from NGO staff and consistent practice, these challenges were overcome — strengthening confidence, communication, and problem-solving abilities over the course of the internship.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5029200" cy="50292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737360" y="4754880"/>
            <a:ext cx="4206240" cy="420624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365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Journey &amp; 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271016" y="114300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71016" y="1143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63624" y="1289304"/>
            <a:ext cx="1261872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640080" y="1527048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25496" y="114300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825496" y="1143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18104" y="1289304"/>
            <a:ext cx="1261872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2194560" y="1527048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Beneficiary Interaction &amp; Awareness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79976" y="114300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79976" y="1143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72584" y="1289304"/>
            <a:ext cx="1261872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3749040" y="1527048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&amp; Environmental Activities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34456" y="114300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34456" y="1143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27064" y="1289304"/>
            <a:ext cx="1261872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5303520" y="1527048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Cleanliness Drive &amp; Outreach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88936" y="114300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88936" y="1143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81544" y="1289304"/>
            <a:ext cx="1261872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6858000" y="1527048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Beneficiary Field Visit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043416" y="114300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043416" y="1143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336024" y="1289304"/>
            <a:ext cx="1261872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8412480" y="1527048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Data &amp; Documentation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597896" y="114300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597896" y="1143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966960" y="1527048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Learning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" y="2331720"/>
            <a:ext cx="10881360" cy="2788920"/>
          </a:xfrm>
          <a:prstGeom prst="roundRect">
            <a:avLst>
              <a:gd name="adj" fmla="val 3934"/>
            </a:avLst>
          </a:prstGeom>
          <a:solidFill>
            <a:srgbClr val="028090">
              <a:alpha val="22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68680" y="24871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868680" y="2907792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at Neev Shakti Sanstha was a valuable, enriching experience that revealed the real-world importance of community service, disability inclusion, and social responsibility — insights that went well beyond classroom learning.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strengthened communication, teamwork, leadership, and analytical thinking, while deepening confidence and empathy towards persons with disabilities — a meaningful step in both personal and professional growth, and an inspiration to keep contributing to community welfare.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5486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36" name="Text 3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2026-08-30T16:04:43Z</dcterms:created>
  <dcterms:modified xsi:type="dcterms:W3CDTF">2026-08-30T16:04:43Z</dcterms:modified>
</cp:coreProperties>
</file>